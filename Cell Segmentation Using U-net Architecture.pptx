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Old Standard TT"/>
      <p:regular r:id="rId15"/>
      <p:bold r:id="rId16"/>
      <p: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OldStandardTT-regular.fntdata"/><Relationship Id="rId14" Type="http://schemas.openxmlformats.org/officeDocument/2006/relationships/slide" Target="slides/slide9.xml"/><Relationship Id="rId17" Type="http://schemas.openxmlformats.org/officeDocument/2006/relationships/font" Target="fonts/OldStandardTT-italic.fntdata"/><Relationship Id="rId16" Type="http://schemas.openxmlformats.org/officeDocument/2006/relationships/font" Target="fonts/OldStandardTT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e51dc41796_2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ge51dc41796_2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e51dc41796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e51dc41796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ee5c8f610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2ee5c8f610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2ee7e1a176b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2ee7e1a176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ee5c8f610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ee5c8f610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ee5c8f6106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2ee5c8f6106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ee5c8f6106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2ee5c8f6106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ee5c8f6106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2ee5c8f6106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ee9e44f9bd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g2ee9e44f9bd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100"/>
            <a:ext cx="9144000" cy="1711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" name="Google Shape;12;p2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" name="Google Shape;17;p3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6864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039650"/>
            <a:ext cx="8520600" cy="21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perback">
    <p:bg>
      <p:bgPr>
        <a:solidFill>
          <a:schemeClr val="accen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  <a:defRPr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775500" y="415975"/>
            <a:ext cx="7593000" cy="1266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b="1" lang="en" sz="3200"/>
              <a:t>Cell Segmentation Using U-Net Architecture</a:t>
            </a:r>
            <a:endParaRPr b="1" sz="3200"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510450" y="2571750"/>
            <a:ext cx="8123100" cy="9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1500"/>
              <a:t>By: Taha A. P, Shania H, Shahanas V, Shaharin V, Rawaa Rajab</a:t>
            </a:r>
            <a:endParaRPr sz="15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1500"/>
              <a:t>Group Name: NMA_SEG</a:t>
            </a:r>
            <a:endParaRPr sz="15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1400"/>
              <a:t>Pod: Splendid Meconopsis</a:t>
            </a:r>
            <a:endParaRPr sz="1400"/>
          </a:p>
        </p:txBody>
      </p:sp>
      <p:pic>
        <p:nvPicPr>
          <p:cNvPr id="61" name="Google Shape;61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71751" y="3116650"/>
            <a:ext cx="2196751" cy="1487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</a:rPr>
              <a:t>Why is breast cell segmentation important?</a:t>
            </a:r>
            <a:endParaRPr>
              <a:solidFill>
                <a:srgbClr val="0000FF"/>
              </a:solidFill>
            </a:endParaRPr>
          </a:p>
        </p:txBody>
      </p:sp>
      <p:sp>
        <p:nvSpPr>
          <p:cNvPr id="67" name="Google Shape;67;p14"/>
          <p:cNvSpPr txBox="1"/>
          <p:nvPr>
            <p:ph idx="1" type="body"/>
          </p:nvPr>
        </p:nvSpPr>
        <p:spPr>
          <a:xfrm>
            <a:off x="311700" y="1152475"/>
            <a:ext cx="8520600" cy="9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Breast cell segmentation is particularly important due to its significant implications in breast cancer diagnosis, treatment, and research.</a:t>
            </a:r>
            <a:endParaRPr sz="800"/>
          </a:p>
        </p:txBody>
      </p:sp>
      <p:sp>
        <p:nvSpPr>
          <p:cNvPr id="68" name="Google Shape;68;p14"/>
          <p:cNvSpPr txBox="1"/>
          <p:nvPr>
            <p:ph type="title"/>
          </p:nvPr>
        </p:nvSpPr>
        <p:spPr>
          <a:xfrm>
            <a:off x="311700" y="20764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</a:rPr>
              <a:t>Abstract</a:t>
            </a:r>
            <a:endParaRPr>
              <a:solidFill>
                <a:srgbClr val="0000FF"/>
              </a:solidFill>
            </a:endParaRPr>
          </a:p>
        </p:txBody>
      </p:sp>
      <p:sp>
        <p:nvSpPr>
          <p:cNvPr id="69" name="Google Shape;69;p14"/>
          <p:cNvSpPr txBox="1"/>
          <p:nvPr>
            <p:ph idx="1" type="body"/>
          </p:nvPr>
        </p:nvSpPr>
        <p:spPr>
          <a:xfrm>
            <a:off x="311700" y="2706350"/>
            <a:ext cx="8520600" cy="17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Our study is to investigate the effectiveness of the U-Net architecture for the segmentation of breast cancer cells using the BUID dataset. 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How effectively can the U-Net architecture segment breast cancer cells in the BUID dataset?</a:t>
            </a:r>
            <a:endParaRPr sz="1700"/>
          </a:p>
        </p:txBody>
      </p:sp>
      <p:pic>
        <p:nvPicPr>
          <p:cNvPr id="70" name="Google Shape;70;p14"/>
          <p:cNvPicPr preferRelativeResize="0"/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6171751" y="3116650"/>
            <a:ext cx="2196751" cy="1487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</a:rPr>
              <a:t>Application of Image Segmentation</a:t>
            </a:r>
            <a:endParaRPr sz="3800">
              <a:solidFill>
                <a:srgbClr val="0000FF"/>
              </a:solidFill>
            </a:endParaRPr>
          </a:p>
        </p:txBody>
      </p:sp>
      <p:sp>
        <p:nvSpPr>
          <p:cNvPr id="76" name="Google Shape;76;p15"/>
          <p:cNvSpPr txBox="1"/>
          <p:nvPr>
            <p:ph idx="1" type="body"/>
          </p:nvPr>
        </p:nvSpPr>
        <p:spPr>
          <a:xfrm>
            <a:off x="311700" y="1025900"/>
            <a:ext cx="8520600" cy="40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-309562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n" sz="5100">
                <a:solidFill>
                  <a:srgbClr val="000000"/>
                </a:solidFill>
              </a:rPr>
              <a:t>Medical Imaging: </a:t>
            </a:r>
            <a:endParaRPr sz="5100">
              <a:solidFill>
                <a:srgbClr val="000000"/>
              </a:solidFill>
            </a:endParaRPr>
          </a:p>
          <a:p>
            <a:pPr indent="-309562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○"/>
            </a:pPr>
            <a:r>
              <a:rPr lang="en" sz="5100">
                <a:solidFill>
                  <a:srgbClr val="000000"/>
                </a:solidFill>
              </a:rPr>
              <a:t>Disease Diagnosis : Segmentation helps to identify and measure tumors, organs using MRI and CT.</a:t>
            </a:r>
            <a:endParaRPr sz="5100">
              <a:solidFill>
                <a:srgbClr val="000000"/>
              </a:solidFill>
            </a:endParaRPr>
          </a:p>
          <a:p>
            <a:pPr indent="-309562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○"/>
            </a:pPr>
            <a:r>
              <a:rPr lang="en" sz="5100">
                <a:solidFill>
                  <a:srgbClr val="000000"/>
                </a:solidFill>
              </a:rPr>
              <a:t>Surgical Planning :  Precise Segmentation aids surgeons in planning and performing operations .</a:t>
            </a:r>
            <a:endParaRPr sz="5100">
              <a:solidFill>
                <a:srgbClr val="000000"/>
              </a:solidFill>
            </a:endParaRPr>
          </a:p>
          <a:p>
            <a:pPr indent="-309562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n" sz="5100">
                <a:solidFill>
                  <a:srgbClr val="000000"/>
                </a:solidFill>
              </a:rPr>
              <a:t>Agriculture:</a:t>
            </a:r>
            <a:endParaRPr sz="5100">
              <a:solidFill>
                <a:srgbClr val="000000"/>
              </a:solidFill>
            </a:endParaRPr>
          </a:p>
          <a:p>
            <a:pPr indent="-309562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○"/>
            </a:pPr>
            <a:r>
              <a:rPr lang="en" sz="5100">
                <a:solidFill>
                  <a:srgbClr val="000000"/>
                </a:solidFill>
              </a:rPr>
              <a:t>Crop Monitoring  : Segmenting images can help to monitor crop health,identify weeds, and estimating yields.</a:t>
            </a:r>
            <a:endParaRPr sz="5100">
              <a:solidFill>
                <a:srgbClr val="000000"/>
              </a:solidFill>
            </a:endParaRPr>
          </a:p>
          <a:p>
            <a:pPr indent="-309562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○"/>
            </a:pPr>
            <a:r>
              <a:rPr lang="en" sz="5100">
                <a:solidFill>
                  <a:srgbClr val="000000"/>
                </a:solidFill>
              </a:rPr>
              <a:t>Precision Farming : Enables targeted actions like spraying pesticides or watering specific areas.</a:t>
            </a:r>
            <a:endParaRPr sz="5100">
              <a:solidFill>
                <a:srgbClr val="000000"/>
              </a:solidFill>
            </a:endParaRPr>
          </a:p>
          <a:p>
            <a:pPr indent="-309562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n" sz="5100">
                <a:solidFill>
                  <a:srgbClr val="000000"/>
                </a:solidFill>
              </a:rPr>
              <a:t>Autonomous Vehicles:  </a:t>
            </a:r>
            <a:endParaRPr sz="5100">
              <a:solidFill>
                <a:srgbClr val="000000"/>
              </a:solidFill>
            </a:endParaRPr>
          </a:p>
          <a:p>
            <a:pPr indent="-309562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○"/>
            </a:pPr>
            <a:r>
              <a:rPr lang="en" sz="5100">
                <a:solidFill>
                  <a:srgbClr val="000000"/>
                </a:solidFill>
              </a:rPr>
              <a:t>Object Detection and Recognition: Segmentation is crucial for identifying and classifying objects.</a:t>
            </a:r>
            <a:endParaRPr sz="5100">
              <a:solidFill>
                <a:srgbClr val="000000"/>
              </a:solidFill>
            </a:endParaRPr>
          </a:p>
          <a:p>
            <a:pPr indent="-309562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○"/>
            </a:pPr>
            <a:r>
              <a:rPr lang="en" sz="5100">
                <a:solidFill>
                  <a:srgbClr val="000000"/>
                </a:solidFill>
              </a:rPr>
              <a:t>Scene Understanding : Helps in understanding the driving environment and making safe navigation.</a:t>
            </a:r>
            <a:endParaRPr sz="5100">
              <a:solidFill>
                <a:srgbClr val="000000"/>
              </a:solidFill>
            </a:endParaRPr>
          </a:p>
          <a:p>
            <a:pPr indent="-309562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5100">
                <a:solidFill>
                  <a:schemeClr val="dk1"/>
                </a:solidFill>
              </a:rPr>
              <a:t>Industrial Automation: </a:t>
            </a:r>
            <a:endParaRPr sz="5100"/>
          </a:p>
          <a:p>
            <a:pPr indent="-309562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5100">
                <a:solidFill>
                  <a:schemeClr val="dk1"/>
                </a:solidFill>
              </a:rPr>
              <a:t>Quality Control : Automated inspection of products on production lines to identify defects.</a:t>
            </a:r>
            <a:endParaRPr sz="5100"/>
          </a:p>
          <a:p>
            <a:pPr indent="-309562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5100">
                <a:solidFill>
                  <a:schemeClr val="dk1"/>
                </a:solidFill>
              </a:rPr>
              <a:t>Remote sensing:</a:t>
            </a:r>
            <a:endParaRPr sz="7500"/>
          </a:p>
          <a:p>
            <a:pPr indent="-309562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5100">
                <a:solidFill>
                  <a:schemeClr val="dk1"/>
                </a:solidFill>
              </a:rPr>
              <a:t>Land Use and Land cover : Segmentation is used to classify different land types ( forests, water bodies, urban areas</a:t>
            </a:r>
            <a:r>
              <a:rPr lang="en" sz="5100"/>
              <a:t>)</a:t>
            </a:r>
            <a:endParaRPr sz="1600">
              <a:solidFill>
                <a:srgbClr val="000000"/>
              </a:solidFill>
            </a:endParaRPr>
          </a:p>
        </p:txBody>
      </p:sp>
      <p:pic>
        <p:nvPicPr>
          <p:cNvPr id="77" name="Google Shape;77;p15"/>
          <p:cNvPicPr preferRelativeResize="0"/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6171751" y="3116650"/>
            <a:ext cx="2196751" cy="1487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BUID dataset  consists of breast ultrasound images collected in 2018 from 600 female patients aged 25 to 75. [1]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It includes 780 images in PNG format, each with an average size of 500 x 500 pixels. 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images are categorized into three classes: normal, benign, and malignant, with ground truth masks provided alongside the original images.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200"/>
          </a:p>
        </p:txBody>
      </p:sp>
      <p:sp>
        <p:nvSpPr>
          <p:cNvPr id="83" name="Google Shape;83;p1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</a:rPr>
              <a:t>Dataset</a:t>
            </a:r>
            <a:endParaRPr sz="3800">
              <a:solidFill>
                <a:srgbClr val="0000FF"/>
              </a:solidFill>
            </a:endParaRPr>
          </a:p>
        </p:txBody>
      </p:sp>
      <p:pic>
        <p:nvPicPr>
          <p:cNvPr id="84" name="Google Shape;84;p16"/>
          <p:cNvPicPr preferRelativeResize="0"/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6171751" y="3116650"/>
            <a:ext cx="2196751" cy="1487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</a:rPr>
              <a:t>U-Net Architecture</a:t>
            </a:r>
            <a:endParaRPr>
              <a:solidFill>
                <a:srgbClr val="0000FF"/>
              </a:solidFill>
            </a:endParaRPr>
          </a:p>
        </p:txBody>
      </p:sp>
      <p:pic>
        <p:nvPicPr>
          <p:cNvPr id="90" name="Google Shape;9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8050" y="1297325"/>
            <a:ext cx="4341450" cy="2832126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7"/>
          <p:cNvSpPr txBox="1"/>
          <p:nvPr/>
        </p:nvSpPr>
        <p:spPr>
          <a:xfrm>
            <a:off x="4928250" y="1772100"/>
            <a:ext cx="3999300" cy="15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A</a:t>
            </a:r>
            <a:r>
              <a:rPr lang="en" sz="16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 U-shaped neural networks for biomedical image segmentation which consist of </a:t>
            </a:r>
            <a:r>
              <a:rPr b="1" lang="en" sz="16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encoder</a:t>
            </a:r>
            <a:r>
              <a:rPr lang="en" sz="16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 and </a:t>
            </a:r>
            <a:r>
              <a:rPr b="1" lang="en" sz="16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decoder</a:t>
            </a:r>
            <a:r>
              <a:rPr lang="en" sz="16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 path,along with </a:t>
            </a:r>
            <a:r>
              <a:rPr b="1" lang="en" sz="16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skip connections</a:t>
            </a:r>
            <a:r>
              <a:rPr lang="en" sz="16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, that work together to extract and localize features in images.</a:t>
            </a:r>
            <a:endParaRPr sz="16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pic>
        <p:nvPicPr>
          <p:cNvPr id="92" name="Google Shape;92;p17"/>
          <p:cNvPicPr preferRelativeResize="0"/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>
            <a:off x="6171751" y="3116650"/>
            <a:ext cx="2196751" cy="1487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</a:rPr>
              <a:t>Workflow</a:t>
            </a:r>
            <a:endParaRPr>
              <a:solidFill>
                <a:srgbClr val="0000FF"/>
              </a:solidFill>
            </a:endParaRPr>
          </a:p>
        </p:txBody>
      </p:sp>
      <p:sp>
        <p:nvSpPr>
          <p:cNvPr id="98" name="Google Shape;98;p18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Loading the BUID dataset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Preprocessing the input image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Implementing the U-Net for image segmentation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Training the validation</a:t>
            </a:r>
            <a:endParaRPr/>
          </a:p>
        </p:txBody>
      </p:sp>
      <p:pic>
        <p:nvPicPr>
          <p:cNvPr id="99" name="Google Shape;99;p18"/>
          <p:cNvPicPr preferRelativeResize="0"/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6171751" y="3116650"/>
            <a:ext cx="2196751" cy="1487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/>
          <p:nvPr>
            <p:ph type="title"/>
          </p:nvPr>
        </p:nvSpPr>
        <p:spPr>
          <a:xfrm>
            <a:off x="311700" y="4084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</a:rPr>
              <a:t>Result</a:t>
            </a:r>
            <a:endParaRPr>
              <a:solidFill>
                <a:srgbClr val="0000FF"/>
              </a:solidFill>
            </a:endParaRPr>
          </a:p>
        </p:txBody>
      </p:sp>
      <p:pic>
        <p:nvPicPr>
          <p:cNvPr id="105" name="Google Shape;10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17928" y="1186138"/>
            <a:ext cx="1369350" cy="147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7975" y="1152475"/>
            <a:ext cx="1405225" cy="154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56558" y="1214375"/>
            <a:ext cx="1292478" cy="141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1699" y="2830151"/>
            <a:ext cx="3491075" cy="1617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9"/>
          <p:cNvSpPr txBox="1"/>
          <p:nvPr/>
        </p:nvSpPr>
        <p:spPr>
          <a:xfrm>
            <a:off x="3881788" y="3054200"/>
            <a:ext cx="42420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Too many epochs =&gt; Overfit ?  increased weight decay, tested on validation set</a:t>
            </a:r>
            <a:endParaRPr sz="16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Exploding gradients ? decreased learn rate</a:t>
            </a:r>
            <a:endParaRPr sz="16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3"/>
              </a:solidFill>
            </a:endParaRPr>
          </a:p>
        </p:txBody>
      </p:sp>
      <p:pic>
        <p:nvPicPr>
          <p:cNvPr id="110" name="Google Shape;110;p19"/>
          <p:cNvPicPr preferRelativeResize="0"/>
          <p:nvPr/>
        </p:nvPicPr>
        <p:blipFill>
          <a:blip r:embed="rId7">
            <a:alphaModFix amt="40000"/>
          </a:blip>
          <a:stretch>
            <a:fillRect/>
          </a:stretch>
        </p:blipFill>
        <p:spPr>
          <a:xfrm>
            <a:off x="6171751" y="3116650"/>
            <a:ext cx="2196751" cy="1487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</a:rPr>
              <a:t>Challenges/ Limitation</a:t>
            </a:r>
            <a:endParaRPr>
              <a:solidFill>
                <a:srgbClr val="0000FF"/>
              </a:solidFill>
            </a:endParaRPr>
          </a:p>
        </p:txBody>
      </p:sp>
      <p:sp>
        <p:nvSpPr>
          <p:cNvPr id="116" name="Google Shape;116;p20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In order to obtain data as a torch dataset object, we had to write a class of dataset from scratch to be able to get an image and it’s mask with the index</a:t>
            </a:r>
            <a:r>
              <a:rPr lang="en"/>
              <a:t> </a:t>
            </a:r>
            <a:r>
              <a:rPr lang="en">
                <a:solidFill>
                  <a:schemeClr val="dk1"/>
                </a:solidFill>
              </a:rPr>
              <a:t>some images had more than one mask.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The breast cancer cell might look like a black hole or it can disguise amongst other cells !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17" name="Google Shape;117;p20"/>
          <p:cNvPicPr preferRelativeResize="0"/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6171751" y="3116650"/>
            <a:ext cx="2196751" cy="1487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 txBox="1"/>
          <p:nvPr>
            <p:ph type="ctrTitle"/>
          </p:nvPr>
        </p:nvSpPr>
        <p:spPr>
          <a:xfrm>
            <a:off x="775500" y="415975"/>
            <a:ext cx="7593000" cy="126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b="1" lang="en" sz="6000"/>
              <a:t>THANK YOU!</a:t>
            </a:r>
            <a:endParaRPr b="1" sz="6000"/>
          </a:p>
        </p:txBody>
      </p:sp>
      <p:sp>
        <p:nvSpPr>
          <p:cNvPr id="123" name="Google Shape;123;p21"/>
          <p:cNvSpPr txBox="1"/>
          <p:nvPr>
            <p:ph idx="1" type="subTitle"/>
          </p:nvPr>
        </p:nvSpPr>
        <p:spPr>
          <a:xfrm>
            <a:off x="510450" y="2133550"/>
            <a:ext cx="8123100" cy="98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i="1" lang="en" sz="1800"/>
              <a:t>Hearty thanks to our project TA </a:t>
            </a:r>
            <a:r>
              <a:rPr b="1" i="1" lang="en" sz="1800">
                <a:solidFill>
                  <a:srgbClr val="00FF00"/>
                </a:solidFill>
              </a:rPr>
              <a:t>Akinyemi Joseph</a:t>
            </a:r>
            <a:r>
              <a:rPr i="1" lang="en" sz="1800"/>
              <a:t> and pod TA</a:t>
            </a:r>
            <a:r>
              <a:rPr i="1" lang="en" sz="1800"/>
              <a:t> </a:t>
            </a:r>
            <a:r>
              <a:rPr b="1" i="1" lang="en" sz="1800">
                <a:solidFill>
                  <a:srgbClr val="00FF00"/>
                </a:solidFill>
              </a:rPr>
              <a:t>Charles Yusuf</a:t>
            </a:r>
            <a:r>
              <a:rPr i="1" lang="en" sz="1800"/>
              <a:t> for their wonderful guidance to us!</a:t>
            </a:r>
            <a:endParaRPr i="1" sz="1700"/>
          </a:p>
        </p:txBody>
      </p:sp>
      <p:pic>
        <p:nvPicPr>
          <p:cNvPr id="124" name="Google Shape;12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71751" y="3116650"/>
            <a:ext cx="2196751" cy="1487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perback">
  <a:themeElements>
    <a:clrScheme name="Paperback">
      <a:dk1>
        <a:srgbClr val="000000"/>
      </a:dk1>
      <a:lt1>
        <a:srgbClr val="FFFFFF"/>
      </a:lt1>
      <a:dk2>
        <a:srgbClr val="00695C"/>
      </a:dk2>
      <a:lt2>
        <a:srgbClr val="26A69A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